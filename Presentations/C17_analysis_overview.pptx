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</a:rPr>
              <a:t>•  Spectroscopy of unbound ¹⁷C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</a:rPr>
              <a:t>•  via ¹⁶C(d,p)¹⁷C at FRIB (a1975)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FFFFFF"/>
                </a:solidFill>
              </a:rPr>
              <a:t>•  Angular distributions · absolute normalization · L assignments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</a:rPr>
              <a:t>•  Y. Ayyad   —   IGFAE, Universidade de Santiago de Compostela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•  30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8C9DA"/>
                </a:solidFill>
              </a:rPr>
              <a:t>•  spectroscopic reference: Movilla &amp; Ayyad (2026-02)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The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reaction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¹⁶C beam in the AT-TPC, D₂ active target (FRIB a1975).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188.33 MeV total = 11.77 MeV/u;  Q(g.s.) = −1.498 MeV.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Transfer populates the bound region + seven unbound resonances.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Goal: per-state dσ/dΩ on an absolute scale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</a:rPr>
              <a:t>–  → transferred-L from FRESCO ADWA shape comparison.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Data reduced with ATTPCROOT (InterpSolver); cont. of C16dp_fits.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1D46"/>
                </a:solidFill>
              </a:rPr>
              <a:t>•  Unbound resonances fitted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Ex(MeV)  Jpi    G(keV)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----------------------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2.763    1/2-      50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2.980    3/2+     200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3.661    new      398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4.231    3/2+     500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4.841    1/2+     300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5.91     3/2+    1500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ourier New"/>
              </a:rPr>
              <a:t>6.30     5/2+     396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1. Spectral fit (C16_pd_AngBins.C): 12 × 2.5° bins, 10–40°.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</a:rPr>
              <a:t>–  3 Gaussians (bound) + 7 penetrability-modified Breit–Wigners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</a:rPr>
              <a:t>–  + 1n/2n phase space + linear bg;  analytic Voigt lineshape.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</a:rPr>
              <a:t>–  Inclusive fit pins positions/widths; per-bin frees amplitudes.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2. Efficiency: 8 Ex-tables, bilinear (Ex,θ); floor + gradient cuts.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3. Absolute normalization fixed by the ¹⁶C(d,d) elastic channel.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4. L scan: each AD vs FRESCO L=0–3 ADWA shapes; best L by χ²/ν.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</a:rPr>
              <a:t>•  5. Systematics: 82-variant campaign → per-state envelope.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Inclusive Ex spectrum: the global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spectral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plots_inclu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7460"/>
            <a:ext cx="6766560" cy="4148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18872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•  A localized +2–4σ excess near 0.4–1.1 MeV is not absorbed by the nominal model.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</a:rPr>
              <a:t>•  Adding a contaminant Gaussian (~0.45 MeV) restores an acceptable fit: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20040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cuts     nominal  +contam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-------------------------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loose     1.78     0.84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strict    1.88     0.97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         (chi2/nu)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84632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</a:rPr>
              <a:t>•  Survives strict cuts (0.450→0.451 MeV) ⇒ not an AT-TPC edge artifact.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</a:rPr>
              <a:t>•  Carried as a model-dependence systematic.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Bound states: angular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bound_states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6766559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188720"/>
            <a:ext cx="3840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•  Three bound ¹⁷C states, as a cross-check of the machinery:</a:t>
            </a:r>
          </a:p>
          <a:p>
            <a:pPr algn="l" lvl="1">
              <a:spcAft>
                <a:spcPts val="800"/>
              </a:spcAft>
            </a:pPr>
            <a:r>
              <a:rPr sz="1100" b="0" i="0">
                <a:solidFill>
                  <a:srgbClr val="1A1A1A"/>
                </a:solidFill>
              </a:rPr>
              <a:t>–  g.s. 3/2⁺</a:t>
            </a:r>
          </a:p>
          <a:p>
            <a:pPr algn="l" lvl="1">
              <a:spcAft>
                <a:spcPts val="800"/>
              </a:spcAft>
            </a:pPr>
            <a:r>
              <a:rPr sz="1100" b="0" i="0">
                <a:solidFill>
                  <a:srgbClr val="1A1A1A"/>
                </a:solidFill>
              </a:rPr>
              <a:t>–  0.217 MeV 1/2⁺</a:t>
            </a:r>
          </a:p>
          <a:p>
            <a:pPr algn="l" lvl="1">
              <a:spcAft>
                <a:spcPts val="800"/>
              </a:spcAft>
            </a:pPr>
            <a:r>
              <a:rPr sz="1100" b="0" i="0">
                <a:solidFill>
                  <a:srgbClr val="1A1A1A"/>
                </a:solidFill>
              </a:rPr>
              <a:t>–  0.335 MeV 5/2⁺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•  Forward-peaked g.s. and 0.217 shapes consistent with the expected ℓ content.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•  The 5/2⁺ is only weakly populated — points sit near the detection floor (large bars), shown for completeness.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A1A1A"/>
                </a:solidFill>
              </a:rPr>
              <a:t>•  Validate efficiency + absolute scale before the unbound region.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Absolute normalization: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</a:rPr>
              <a:t>•  Counts → cross section (fixed luminosity constant):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</a:rPr>
              <a:t>•  dσ/dΩ = Y / ( N_beam · N_tgt · ΔΩ ) × 10  /  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</a:rPr>
              <a:t>•  N_beam = 1.6146×10⁵,  N_tgt = 0.019632,  ΔΩ = 2π(cosθ_lo − cosθ_hi).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</a:rPr>
              <a:t>•  Cross-check: the ¹⁶C(d,d) elastic channel shares the entrance partition (same beam, D₂ target, luminosity).</a:t>
            </a:r>
          </a:p>
          <a:p>
            <a:pPr algn="l" lvl="1">
              <a:spcAft>
                <a:spcPts val="1000"/>
              </a:spcAft>
            </a:pPr>
            <a:r>
              <a:rPr sz="1300" b="0" i="0">
                <a:solidFill>
                  <a:srgbClr val="1A1A1A"/>
                </a:solidFill>
              </a:rPr>
              <a:t>–  An absolute OM elastic cross section that reproduces the data validates the constant — no free normalization.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</a:rPr>
              <a:t>•  Self-contained partial-wave OM solver (om_elastic.py): Numerov + Coulomb matching; vs Rutherford to 10⁻³.</a:t>
            </a:r>
          </a:p>
          <a:p>
            <a:pPr algn="l" lvl="1">
              <a:spcAft>
                <a:spcPts val="1000"/>
              </a:spcAft>
            </a:pPr>
            <a:r>
              <a:rPr sz="1300" b="0" i="0">
                <a:solidFill>
                  <a:srgbClr val="1A1A1A"/>
                </a:solidFill>
              </a:rPr>
              <a:t>–  E_lab(d) = 23.55 MeV, E_c.m. = 20.92 MeV.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Absolute normalization: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om_elastic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91" y="1051560"/>
            <a:ext cx="6468176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</a:rPr>
              <a:t>•  Forward-lobe ⟨data/OM⟩: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OMP            chi2/nu  d/OM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---------------------------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ADWA(transfer)   398   0.864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DA1p (global)    105   0.886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Courier New"/>
              </a:rPr>
              <a:t>free 5-par fit    32   0.978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56616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</a:rPr>
              <a:t>•  Absolute scale consistent with unity — no rescale.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</a:rPr>
              <a:t>•  BUT the transfer ADWA potential itself sits ~14% low.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</a:rPr>
              <a:t>•  Honest figure = cross-potential spread ≈ 0.86–0.98 (~12%), a GLOBAL scale uncertainty (not in per-point errors).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From counts to dσ/dΩ: error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uncertainties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</a:rPr>
              <a:t>•  δ(dσ/dΩ) = (dσ/dΩ) · √[ (δY/Y)² + (δε/ε)²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1A1A1A"/>
                </a:solidFill>
              </a:rPr>
              <a:t>•  δY = Minuit amplitude error (χ² fit to √N-weighted histograms) — already carries Poisson stats.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1A1A1A"/>
                </a:solidFill>
              </a:rPr>
              <a:t>•  FIXED (2026-05-30): a previous √(1/Y + (δY/Y)²) double-counted Poisson (√2 inflation).</a:t>
            </a:r>
          </a:p>
          <a:p>
            <a:pPr algn="l" lvl="1"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</a:rPr>
              <a:t>–  e.g. g.s. 10–12.5°:  0.433 → 0.356 mb/sr.</a:t>
            </a:r>
          </a:p>
          <a:p>
            <a:pPr algn="l">
              <a:spcAft>
                <a:spcPts val="1000"/>
              </a:spcAft>
            </a:pPr>
            <a:r>
              <a:rPr sz="1550" b="0" i="0">
                <a:solidFill>
                  <a:srgbClr val="1A1A1A"/>
                </a:solidFill>
              </a:rPr>
              <a:t>•  Three uncertainty layers, kept separate:</a:t>
            </a:r>
          </a:p>
          <a:p>
            <a:pPr algn="l" lvl="1"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</a:rPr>
              <a:t>–  statistical (above) + systematic (82-variant envelope) + global scale (~12% OMP spread).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Unbound resonances: dσ/dΩ + systematic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angular distributions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unbound_a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52" y="1051560"/>
            <a:ext cx="9889614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•  Black: data ± corrected statistical error.   Gray: min–max across the 82 spectral-fit variants.   Fits use θ_c.m. ≤ 30°.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L assignment: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L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FRESCO 7-state DWBA with the Johnson–Soper ADWA effective deuteron OMP (sum of Koning–Delaroche p+¹⁶C and n+¹⁶C at E_d/2).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Four templates L=0,1,2,3 (neutron in 3s₁/₂, 2p₁/₂, 2d₃/₂/2d₅/₂, 1f₅/₂); weakly-bound approx b_e = 0.5 MeV.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Each AD fit to each L shape (single normalization); best L by χ²/ν on θ_c.m. ≤ 30°.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SHAPE-ONLY: the WBA reproduces the L-dependent shape but not the magnitude ⇒ C²S are effective, not publication SFs</a:t>
            </a:r>
          </a:p>
          <a:p>
            <a:pPr algn="l" lvl="1">
              <a:spcAft>
                <a:spcPts val="1200"/>
              </a:spcAft>
            </a:pPr>
            <a:r>
              <a:rPr sz="1350" b="0" i="0">
                <a:solidFill>
                  <a:srgbClr val="1A1A1A"/>
                </a:solidFill>
              </a:rPr>
              <a:t>–  (needs CDCC / pole-residue treatment).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L assignment: FRESCO shape overlays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L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plots_fresco_un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31" y="1051560"/>
            <a:ext cx="10678857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</a:rPr>
              <a:t>•  Curves = FRESCO ADWA at each state's literature single-particle config (normalization-fit, full 10–40°). The data-driven all-L scan on θ_c.m. ≤ 30° is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L assignment: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L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lsca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365"/>
            <a:ext cx="6766560" cy="3988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</a:rPr>
              <a:t>•  best L (corrected errors):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373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Ex      best L      next L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-----------------------------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2.763   L=3 (1.41)  L=2 (1.42)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2.980   L=3 (2.73)  L=2 (3.05)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3.661  *L=2 (1.38)  L=3 (1.45)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4.231  *L=2 (0.58)  L=3 (1.38)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4.841  *L=0 (3.09)  L=1 (7.35)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5.91    L=2 (3.55)  L=0 (3.73)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6.30    L=0 (0.34)  L=3 (0.40)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46634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χ²/ν refreshed after the error fix.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All best-L picks &amp; tie flags UNCHANGED;</a:t>
            </a:r>
          </a:p>
          <a:p>
            <a:pPr algn="l" lvl="1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</a:rPr>
              <a:t>–  χ²/ν rose ×1.3–1.5 (every L scales together).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L assignment: state-by-state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L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A1A"/>
                </a:solidFill>
              </a:rPr>
              <a:t>•  4.231 3/2⁺ / 4.841 1/2⁺: decisive (L=2 d-wave; L=0 s-wave) — next L worse by factor ≳ 2; match the PDF.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A1A"/>
                </a:solidFill>
              </a:rPr>
              <a:t>•  3.661 (new): L=2 over L=3 (1.38 vs 1.45) — not decisive; possible sd–pf intruder.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A1A"/>
                </a:solidFill>
              </a:rPr>
              <a:t>•  2.763 1/2⁻: three-way near-tie (L=3/2/1); AD too flat to separate.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A1A"/>
                </a:solidFill>
              </a:rPr>
              <a:t>•  2.980 3/2⁺: no template fits well; 17.5° AD peak not reproduced; fit wants E₀ ~120 keV above the SM prior.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A1A"/>
                </a:solidFill>
              </a:rPr>
              <a:t>•  6.30 5/2⁺: L=0 has best χ²/ν but is FORBIDDEN (0⁺⊗s₁/₂ = 1/2⁺); allowed L=2/3 are tied.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1A1A"/>
                </a:solidFill>
              </a:rPr>
              <a:t>•  5.91 3/2⁺: L=2 marginal over L=0; AD poorly constrained past 30°.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Systematic envelope (82 variants)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systematics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yield_envelope_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74519"/>
            <a:ext cx="694944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</a:rPr>
              <a:t>•  Integrated-yield envelope: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state        -%     +%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---------------------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g.s. 3/2+   -23    +0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2.763       -56   +32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2.980       -28  +179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3.661       -15   +17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4.231       -14   +48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4.841       -27   +11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5.91         -8   +22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ourier New"/>
              </a:rPr>
              <a:t>6.30         -9    +3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548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Largest model-dependence: 2.763 &amp; 2.980 (contaminant degeneracy).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6.30 robust (&lt;10%).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Per-state absolute dσ/dΩ for 3 bound + 7 unbound ¹⁷C states from ¹⁶C(d,p) at 11.77 MeV/u.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Absolute scale validated vs ¹⁶C(d,d) elastic; normalization uncertainty = ~12% OMP spread (global).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Error model corrected: per-point stats no longer double-counted; statistical + systematic + scale layers separated.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L assignments robust to the fix: 4.231 (L=2) &amp; 4.841 (L=0) decisive; 3.661/2.763/5.91 ambiguous; 2.980 &amp; 6.30 problematic.</a:t>
            </a:r>
          </a:p>
          <a:p>
            <a:pPr algn="l"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</a:rPr>
              <a:t>•  Deliverable (this repo): yields, dσ/dΩ, systematic envelope. Final L / C²S done downstream (CDCC-grade).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Open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</a:rPr>
              <a:t>•  Fold the ~12% elastic-normalization scale into the published dσ/dΩ / yield bands (common factor).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</a:rPr>
              <a:t>•  Continuum-form tests (quadratic/exp bg, PS-shape) to show the 0.45 MeV contaminant is not bg flexibility.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</a:rPr>
              <a:t>•  Physically identify the 0.45 MeV excess (vertex_z, θ_lab fingerprint of a non-D₂ channel?).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</a:rPr>
              <a:t>•  CDCC / pole-residue treatment for publication-grade absolute C²S.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</a:rPr>
              <a:t>•  Refs: Pereira-Lopez et al., PLB 811 (2020) 135939; Movilla &amp; Ayyad (2026); Pang et al., arXiv:1606.01507 (DA1p).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Backup: full χ²/ν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L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state         L=0     L=1     L=2     L=3    best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-------------------------------------------------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2.763 1/2-   3.27   1.61   1.42 * 1.41   L=3  (tie L=2)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2.980 3/2+   3.83   3.66   3.05 * 2.73   L=3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3.661 new    3.68   4.35 * 1.38   1.45   L=2  (tie L=3)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4.231 3/2+   2.87   2.12 * 0.58   1.38   L=2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4.841 1/2+ * 3.09   7.35   9.23  11.53   L=0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5.91 3/2+    3.73   4.25 * 3.55   5.10   L=2  (tie L=0)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6.30 5/2+  * 0.34   0.72   0.41   0.40   L=0  (tie L=3)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</a:rPr>
              <a:t>•  * = best L.  Fits on theta_cm &lt;= 30 deg, corrected stat errors (2026-05-30).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</a:rPr>
              <a:t>•  tie = runner-up within 0.3 in chi2/nu (shapes indistinguishable at current statistics).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Backup: non-resonant background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plots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63" y="1051560"/>
            <a:ext cx="6956633" cy="5120640"/>
          </a:xfrm>
          <a:prstGeom prst="rect">
            <a:avLst/>
          </a:prstGeom>
        </p:spPr>
      </p:pic>
      <p:pic>
        <p:nvPicPr>
          <p:cNvPr id="8" name="Picture 7" descr="bg_vs_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134" y="1097280"/>
            <a:ext cx="4212771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40690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</a:rPr>
              <a:t>•  In the fit: 1n PS + linear bg + 2n PS, amplitudes free in EVERY angular bin (PS templates rebuilt per bin).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</a:rPr>
              <a:t>•  From ~30° the transfer peaks fade and the continuum dominates the shape.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</a:rPr>
              <a:t>•  Scaling each term 0.3×–3× moves dσ/dΩ by &lt;2% (bg), ~0% (PS) — flat in angle, no rise past 30°.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</a:rPr>
              <a:t>•  Also in the 82-variant envelope; L-scan uses θ ≤ 30°. Back-angle limit is stats/efficiency, not bg.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F1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B3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Backup: the 0.45 MeV contaminant is a low-energy proton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FFFFFF"/>
                </a:solidFill>
              </a:rPr>
              <a:t>contaminant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5555"/>
                </a:solidFill>
              </a:rPr>
              <a:t>¹⁶C(d,p)¹⁷C  ·  FRIB a1975  ·  Y. Ayyad (USC)</a:t>
            </a:r>
          </a:p>
        </p:txBody>
      </p:sp>
      <p:pic>
        <p:nvPicPr>
          <p:cNvPr id="7" name="Picture 6" descr="contam_finger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14700"/>
            <a:ext cx="7955279" cy="49029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1430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Back-angle feature: ~87% of its fitted yield at θ_cm ≥ 30° (contam_vs_angle).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Fingerprint (47 runs, 56k events): contaminant protons have E_ej ≈ 2.5 MeV vs ~5.4 MeV for genuine transfer at the same back angles.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Same ~2.5 MeV forward too — a fixed low-energy population.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A real 0.45 MeV ¹⁷C state would give MORE energetic protons than the Eₓ≈4 reference, not half ⇒ these don't obey ¹⁶C(d,p) kinematics.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Vertex ~9 cm downstream (62.7 vs 53.4 cm).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</a:rPr>
              <a:t>•  ⇒ low-energy proton background, NOT a ¹⁷C level; a back-angle E_ej / vertex cut would remove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